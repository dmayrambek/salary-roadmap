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0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686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2BA71-DA3B-ED02-258B-3E0B050E9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C905C-DFCF-3D80-8A48-BCB207B9A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064C8-4015-8ABA-804B-FA6152304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571F3-E470-8979-1CBD-0B2D90E08D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73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0BD12-F2DD-C34B-CF46-B698F50E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A0DD0-C814-C073-D288-DFEB35CBA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04528-CEDE-4C7C-BADF-3B3C1CE89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EA8B5-81DE-800A-D795-8503BEDFF1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20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3320" y="224028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Мой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5989320" y="2286000"/>
            <a:ext cx="1234440" cy="1234440"/>
          </a:xfrm>
          <a:prstGeom prst="roundRect">
            <a:avLst>
              <a:gd name="adj" fmla="val 11852"/>
            </a:avLst>
          </a:prstGeom>
          <a:solidFill>
            <a:srgbClr val="E8005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 rot="10800000">
            <a:off x="6144768" y="3383280"/>
            <a:ext cx="310896" cy="274320"/>
          </a:xfrm>
          <a:prstGeom prst="triangle">
            <a:avLst/>
          </a:prstGeom>
          <a:solidFill>
            <a:srgbClr val="E8005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989320" y="228600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39776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КОММЕРЧЕСКОЕ ПРЕДЛОЖЕНИЕ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14148" y="5093208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0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Зарплатный проект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66444" y="5611828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E8005A"/>
                </a:solidFill>
              </a:rPr>
              <a:t>O!Bank</a:t>
            </a:r>
            <a:endParaRPr lang="en-US" sz="3200" b="1" dirty="0">
              <a:solidFill>
                <a:srgbClr val="E8005A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641908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Уважаемый партнёр!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087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«Мой О!» — цифровая экосистема и один из лидеров финтеха Кыргызстана: банк, платежи, мобильный оператор и суперапп в едином контуре. </a:t>
            </a:r>
            <a:r>
              <a:rPr lang="en-US" sz="155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Зарплатный проект в О!Банке — это прозрачные и быстрые выплаты, меньше рутины для бухгалтерии и реальная выгода для ваших сотрудников.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3453689" cy="2286000"/>
          </a:xfrm>
          <a:prstGeom prst="roundRect">
            <a:avLst>
              <a:gd name="adj" fmla="val 4800"/>
            </a:avLst>
          </a:prstGeom>
          <a:solidFill>
            <a:srgbClr val="F5F5F8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77240" y="3520440"/>
            <a:ext cx="317936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0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7+ млн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60120" y="4526280"/>
            <a:ext cx="281360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установок суперапп «Мой О!»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68089" y="3200400"/>
            <a:ext cx="3453689" cy="2286000"/>
          </a:xfrm>
          <a:prstGeom prst="roundRect">
            <a:avLst>
              <a:gd name="adj" fmla="val 4800"/>
            </a:avLst>
          </a:prstGeom>
          <a:solidFill>
            <a:srgbClr val="F5F5F8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505249" y="3520440"/>
            <a:ext cx="317936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0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688129" y="4526280"/>
            <a:ext cx="281360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охват населения во всех регионах страны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96098" y="3200400"/>
            <a:ext cx="3453689" cy="2286000"/>
          </a:xfrm>
          <a:prstGeom prst="roundRect">
            <a:avLst>
              <a:gd name="adj" fmla="val 4800"/>
            </a:avLst>
          </a:prstGeom>
          <a:solidFill>
            <a:srgbClr val="F5F5F8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233258" y="3520440"/>
            <a:ext cx="317936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0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416138" y="4526280"/>
            <a:ext cx="2813609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безналичных платежей по всей стране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2386584"/>
            <a:ext cx="4480560" cy="4754880"/>
          </a:xfrm>
          <a:prstGeom prst="roundRect">
            <a:avLst>
              <a:gd name="adj" fmla="val 4490"/>
            </a:avLst>
          </a:prstGeom>
          <a:solidFill>
            <a:srgbClr val="E8005A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assets/r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338" y="2052742"/>
            <a:ext cx="4937760" cy="34015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Зарплатный проект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Прозрачные и быстрые выплаты — больше лояльности сотрудников. Доверьте расчёт и выплату зарплаты нам и сосредоточьтесь на бизнесе.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6858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7" name="Image 1" descr="assets/ic_compan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44144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38658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Выгода для компании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80160" y="2788920"/>
            <a:ext cx="6126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Оперативная загрузка зарплатных реестров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Оптимизация налоговых и финансовых процессов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Начисление зарплаты 24/7 через онлайн-банк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3758184"/>
            <a:ext cx="6858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1" name="Image 2" descr="assets/ic_serv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59352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904488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Быстрое и безопасное обслуживание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80160" y="4306824"/>
            <a:ext cx="6126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Мгновенное зачисление зарплаты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Высокий уровень безопасности транзакций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Круглосуточная поддержка сотрудников и бухгалтерии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0080" y="5276088"/>
            <a:ext cx="6858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5" name="Image 3" descr="assets/ic_sta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47725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12164" y="5298862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Удобство для сотрудников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20724" y="5623560"/>
            <a:ext cx="6126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Снятие в банкоматах О!Банк — 0%</a:t>
            </a:r>
            <a:endParaRPr lang="ru-RU" sz="1200" dirty="0">
              <a:solidFill>
                <a:srgbClr val="555560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ru-RU" sz="1200" dirty="0">
                <a:solidFill>
                  <a:srgbClr val="555560"/>
                </a:solidFill>
                <a:latin typeface="Segoe UI" pitchFamily="34" charset="0"/>
                <a:cs typeface="Segoe UI" pitchFamily="34" charset="-120"/>
              </a:rPr>
              <a:t>Функциональное мобильное приложение «Мой О!+Банк»</a:t>
            </a: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ru-RU" sz="1200" dirty="0">
                <a:solidFill>
                  <a:srgbClr val="555560"/>
                </a:solidFill>
                <a:latin typeface="Segoe UI" pitchFamily="34" charset="0"/>
                <a:cs typeface="Segoe UI" pitchFamily="34" charset="-120"/>
              </a:rPr>
              <a:t>Карты с кэш-</a:t>
            </a:r>
            <a:r>
              <a:rPr lang="ru-RU" sz="1200" dirty="0" err="1">
                <a:solidFill>
                  <a:srgbClr val="555560"/>
                </a:solidFill>
                <a:latin typeface="Segoe UI" pitchFamily="34" charset="0"/>
                <a:cs typeface="Segoe UI" pitchFamily="34" charset="-120"/>
              </a:rPr>
              <a:t>бэком</a:t>
            </a:r>
            <a:endParaRPr lang="en-US" sz="1200" dirty="0">
              <a:solidFill>
                <a:srgbClr val="555560"/>
              </a:solidFill>
              <a:latin typeface="Segoe UI" pitchFamily="34" charset="0"/>
              <a:cs typeface="Segoe UI" pitchFamily="34" charset="-12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Зарплатный</a:t>
            </a:r>
            <a:r>
              <a:rPr lang="en-US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кредит до 1 000 000 сом под 19%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575" y="207772"/>
            <a:ext cx="10543032" cy="777240"/>
          </a:xfrm>
          <a:prstGeom prst="roundRect">
            <a:avLst>
              <a:gd name="adj" fmla="val 49412"/>
            </a:avLst>
          </a:prstGeom>
          <a:solidFill>
            <a:srgbClr val="E8005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762576" y="0"/>
            <a:ext cx="1054303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Условия зарплатного проекта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211391"/>
              </p:ext>
            </p:extLst>
          </p:nvPr>
        </p:nvGraphicFramePr>
        <p:xfrm>
          <a:off x="822960" y="1112808"/>
          <a:ext cx="10482647" cy="4536574"/>
        </p:xfrm>
        <a:graphic>
          <a:graphicData uri="http://schemas.openxmlformats.org/drawingml/2006/table">
            <a:tbl>
              <a:tblPr/>
              <a:tblGrid>
                <a:gridCol w="5482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0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Валюта карты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KGS</a:t>
                      </a: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USD</a:t>
                      </a: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EUR</a:t>
                      </a: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KZT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2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Выпуск и </a:t>
                      </a:r>
                      <a:r>
                        <a:rPr lang="en-US" sz="1250" dirty="0" err="1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перевыпуск</a:t>
                      </a: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карты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 b="1" dirty="0" err="1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806592"/>
                  </a:ext>
                </a:extLst>
              </a:tr>
              <a:tr h="5003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 dirty="0" err="1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Обслуживание</a:t>
                      </a:r>
                      <a:r>
                        <a:rPr lang="ru-RU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1-й </a:t>
                      </a:r>
                      <a:r>
                        <a:rPr lang="en-US" sz="1250" dirty="0" err="1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год</a:t>
                      </a:r>
                      <a:r>
                        <a:rPr lang="ru-RU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и </a:t>
                      </a:r>
                      <a:r>
                        <a:rPr lang="en-US" sz="1250" dirty="0" err="1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последующие</a:t>
                      </a: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250" dirty="0" err="1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годы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0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Зачисление зарплаты на счёт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0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Снятие в банкоматах и кассах О!Банк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 (0%)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3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Снятие в чужих банкоматах, КР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 err="1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до</a:t>
                      </a: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100 000 сом/</a:t>
                      </a:r>
                      <a:r>
                        <a:rPr lang="en-US" sz="1250" dirty="0" err="1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мес</a:t>
                      </a:r>
                      <a:r>
                        <a:rPr lang="ru-RU" sz="1250" dirty="0" err="1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яц</a:t>
                      </a: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бесплатно, </a:t>
                      </a:r>
                      <a:r>
                        <a:rPr lang="ru-RU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свыше</a:t>
                      </a: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1%</a:t>
                      </a:r>
                      <a:r>
                        <a:rPr lang="ru-RU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</a:t>
                      </a: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 250 </a:t>
                      </a:r>
                      <a:r>
                        <a:rPr lang="ru-RU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сом)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0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latin typeface="Segoe UI" charset="0"/>
                          <a:ea typeface="Segoe UI" charset="0"/>
                          <a:cs typeface="Segoe UI" charset="0"/>
                        </a:rPr>
                        <a:t>Оплата через </a:t>
                      </a:r>
                      <a:r>
                        <a:rPr lang="en-US" sz="1250" dirty="0">
                          <a:latin typeface="Segoe UI" charset="0"/>
                          <a:ea typeface="Segoe UI" charset="0"/>
                          <a:cs typeface="Segoe UI" charset="0"/>
                        </a:rPr>
                        <a:t>POS</a:t>
                      </a:r>
                      <a:r>
                        <a:rPr lang="ru-RU" sz="1250" dirty="0">
                          <a:latin typeface="Segoe UI" charset="0"/>
                          <a:ea typeface="Segoe UI" charset="0"/>
                          <a:cs typeface="Segoe UI" charset="0"/>
                        </a:rPr>
                        <a:t>-терминалы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 err="1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0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Зарплатный кредит для сотрудников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19% годовых · до 1 000 000 сом · до 48 мес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60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Снятие за рубежом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kern="120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1% (</a:t>
                      </a:r>
                      <a:r>
                        <a:rPr lang="en-US" sz="1250" kern="120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 </a:t>
                      </a:r>
                      <a:r>
                        <a:rPr lang="ru-RU" sz="1250" kern="120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250 сом)</a:t>
                      </a:r>
                      <a:endParaRPr lang="en-US" sz="1250" kern="1200" dirty="0">
                        <a:solidFill>
                          <a:srgbClr val="555560"/>
                        </a:solidFill>
                        <a:latin typeface="Segoe UI" pitchFamily="34" charset="0"/>
                        <a:ea typeface="Segoe UI" charset="0"/>
                        <a:cs typeface="Segoe UI" pitchFamily="34" charset="-12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60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Приложение «Мой О!+Банк»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044891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822960" y="6545478"/>
            <a:ext cx="10543032" cy="207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Тарифы утверждены Протоколом №71/2025-10 от 18.12.2025, действуют с 13.01.2026.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Карты зарплатного проекта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>
              <a:solidFill>
                <a:srgbClr val="17171C"/>
              </a:solidFill>
              <a:latin typeface="Segoe UI" pitchFamily="34" charset="0"/>
              <a:cs typeface="Segoe UI" pitchFamily="34" charset="-12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054228"/>
              </p:ext>
            </p:extLst>
          </p:nvPr>
        </p:nvGraphicFramePr>
        <p:xfrm>
          <a:off x="854963" y="1121898"/>
          <a:ext cx="10543033" cy="4783797"/>
        </p:xfrm>
        <a:graphic>
          <a:graphicData uri="http://schemas.openxmlformats.org/drawingml/2006/table">
            <a:tbl>
              <a:tblPr/>
              <a:tblGrid>
                <a:gridCol w="2938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9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5177">
                  <a:extLst>
                    <a:ext uri="{9D8B030D-6E8A-4147-A177-3AD203B41FA5}">
                      <a16:colId xmlns:a16="http://schemas.microsoft.com/office/drawing/2014/main" val="821385116"/>
                    </a:ext>
                  </a:extLst>
                </a:gridCol>
                <a:gridCol w="2610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Параметр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0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VISA Platinum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005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VISA Gold ЗПП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0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Элкарт ЗПП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0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4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Валюта карты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KGS, USD, EUR, KZT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KGS, USD, EUR, KZT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KGS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Выпуск</a:t>
                      </a:r>
                      <a:r>
                        <a:rPr lang="ru-RU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и перевыпуск по истечению срока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 err="1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latin typeface="Segoe UI" charset="0"/>
                          <a:ea typeface="Segoe UI" charset="0"/>
                          <a:cs typeface="Segoe UI" charset="0"/>
                        </a:rPr>
                        <a:t>Перевыпуск по инициативе клиента (утеря/порча)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latin typeface="Segoe UI" charset="0"/>
                          <a:ea typeface="Segoe UI" charset="0"/>
                          <a:cs typeface="Segoe UI" charset="0"/>
                        </a:rPr>
                        <a:t>1500 сом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latin typeface="Segoe UI" charset="0"/>
                          <a:ea typeface="Segoe UI" charset="0"/>
                          <a:cs typeface="Segoe UI" charset="0"/>
                        </a:rPr>
                        <a:t>200 сом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latin typeface="Segoe UI" charset="0"/>
                          <a:ea typeface="Segoe UI" charset="0"/>
                          <a:cs typeface="Segoe UI" charset="0"/>
                        </a:rPr>
                        <a:t>100 сом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682709"/>
                  </a:ext>
                </a:extLst>
              </a:tr>
              <a:tr h="3712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latin typeface="Segoe UI" charset="0"/>
                          <a:ea typeface="Segoe UI" charset="0"/>
                          <a:cs typeface="Segoe UI" charset="0"/>
                        </a:rPr>
                        <a:t>Обслуживание первый год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aseline="0" dirty="0">
                          <a:latin typeface="Segoe UI" charset="0"/>
                          <a:ea typeface="Segoe UI" charset="0"/>
                          <a:cs typeface="Segoe UI" charset="0"/>
                        </a:rPr>
                        <a:t>3000 сом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 err="1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 err="1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151018"/>
                  </a:ext>
                </a:extLst>
              </a:tr>
              <a:tr h="3868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latin typeface="Segoe UI" charset="0"/>
                          <a:ea typeface="Segoe UI" charset="0"/>
                          <a:cs typeface="Segoe UI" charset="0"/>
                        </a:rPr>
                        <a:t>Обслуживание последующие годы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aseline="0" dirty="0">
                          <a:latin typeface="Segoe UI" charset="0"/>
                          <a:ea typeface="Segoe UI" charset="0"/>
                          <a:cs typeface="Segoe UI" charset="0"/>
                        </a:rPr>
                        <a:t>3000 сом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 err="1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dirty="0">
                          <a:latin typeface="Segoe UI" charset="0"/>
                          <a:ea typeface="Segoe UI" charset="0"/>
                          <a:cs typeface="Segoe UI" charset="0"/>
                        </a:rPr>
                        <a:t>100 сом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01599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Снятие в банкоматах О!Банк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Снятие в чужих банкоматах (КР)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kern="1200" dirty="0">
                          <a:solidFill>
                            <a:srgbClr val="555560"/>
                          </a:solidFill>
                          <a:latin typeface="Segoe UI" pitchFamily="34" charset="0"/>
                          <a:cs typeface="Segoe UI" pitchFamily="34" charset="-120"/>
                        </a:rPr>
                        <a:t>1% (мин. 250 сом)</a:t>
                      </a:r>
                      <a:endParaRPr lang="en-US" sz="1250" kern="1200" dirty="0">
                        <a:solidFill>
                          <a:srgbClr val="555560"/>
                        </a:solidFill>
                        <a:latin typeface="Segoe UI" pitchFamily="34" charset="0"/>
                        <a:ea typeface="Segoe UI" charset="0"/>
                        <a:cs typeface="Segoe UI" pitchFamily="34" charset="-12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до 100 000 сом/мес бесплатно, </a:t>
                      </a:r>
                      <a:r>
                        <a:rPr lang="ru-RU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свыше</a:t>
                      </a: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ru-RU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 </a:t>
                      </a: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1%</a:t>
                      </a:r>
                      <a:r>
                        <a:rPr lang="ru-RU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ru-RU" sz="1250" kern="1200" dirty="0">
                          <a:solidFill>
                            <a:srgbClr val="555560"/>
                          </a:solidFill>
                          <a:latin typeface="Segoe UI" pitchFamily="34" charset="0"/>
                          <a:cs typeface="Segoe UI" pitchFamily="34" charset="-120"/>
                        </a:rPr>
                        <a:t>(мин. 250 сом)</a:t>
                      </a:r>
                      <a:endParaRPr lang="en-US" sz="1250" kern="1200" dirty="0">
                        <a:solidFill>
                          <a:srgbClr val="555560"/>
                        </a:solidFill>
                        <a:latin typeface="Segoe UI" pitchFamily="34" charset="0"/>
                        <a:ea typeface="Segoe UI" charset="0"/>
                        <a:cs typeface="Segoe UI" pitchFamily="34" charset="-12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Оплата в POS и онлайн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 err="1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SMS-оповещение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 b="1" dirty="0" err="1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Бесплатно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</a:t>
                      </a:r>
                      <a:r>
                        <a:rPr lang="en-US" sz="1250" dirty="0" err="1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сом</a:t>
                      </a: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</a:t>
                      </a:r>
                      <a:r>
                        <a:rPr lang="en-US" sz="1250" dirty="0" err="1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мес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сом/мес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Срочный </a:t>
                      </a:r>
                      <a:r>
                        <a:rPr lang="en-US" sz="1250" dirty="0" err="1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выпуск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kern="1200" dirty="0">
                          <a:solidFill>
                            <a:srgbClr val="555560"/>
                          </a:solidFill>
                          <a:latin typeface="Segoe UI" pitchFamily="34" charset="0"/>
                          <a:cs typeface="Segoe UI" pitchFamily="34" charset="-120"/>
                        </a:rPr>
                        <a:t>Не предусмотрен</a:t>
                      </a:r>
                      <a:endParaRPr lang="en-US" sz="1250" kern="1200" dirty="0">
                        <a:solidFill>
                          <a:srgbClr val="555560"/>
                        </a:solidFill>
                        <a:latin typeface="Segoe UI" pitchFamily="34" charset="0"/>
                        <a:ea typeface="Segoe UI" charset="0"/>
                        <a:cs typeface="Segoe UI" pitchFamily="34" charset="-12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 сом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300 сом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6355080"/>
            <a:ext cx="10543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Токенизированные карты (Google Pay и др.) обслуживаются по тарифам сторонних банков.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7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Кредит</a:t>
            </a:r>
            <a:r>
              <a:rPr lang="en-US" sz="27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для сотрудников — на льготных условиях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53689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3200" b="1" dirty="0">
                <a:solidFill>
                  <a:srgbClr val="E80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r>
              <a:rPr lang="en-US" sz="3200" b="1" dirty="0">
                <a:solidFill>
                  <a:srgbClr val="E80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годовых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68089" y="1463040"/>
            <a:ext cx="3453689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459529" y="1783080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0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1 000 000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59529" y="2651760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макс. сумма, сом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96098" y="1463040"/>
            <a:ext cx="3453689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8187538" y="1783080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0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 мес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187538" y="2651760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5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макс. </a:t>
            </a:r>
            <a:r>
              <a:rPr lang="en-US" sz="15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</a:t>
            </a:r>
            <a:r>
              <a:rPr lang="en-US" sz="15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кредита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936" y="3840480"/>
            <a:ext cx="10917936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68680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оформить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434840"/>
            <a:ext cx="98755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ru-RU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 200 000, сроком до 24 месяцев - о</a:t>
            </a:r>
            <a:r>
              <a:rPr lang="en-US" sz="12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нлайн</a:t>
            </a:r>
            <a:r>
              <a:rPr lang="en-US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в приложении «Мой О!» —</a:t>
            </a:r>
            <a:r>
              <a:rPr lang="ru-RU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без обеспечения,</a:t>
            </a:r>
            <a:r>
              <a:rPr lang="en-US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</a:t>
            </a:r>
            <a:r>
              <a:rPr lang="en-US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визита в </a:t>
            </a:r>
            <a:r>
              <a:rPr lang="en-US" sz="12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банк</a:t>
            </a:r>
            <a:endParaRPr lang="ru-RU" sz="1200" dirty="0">
              <a:solidFill>
                <a:srgbClr val="555560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ru-RU" sz="1200" dirty="0">
                <a:solidFill>
                  <a:srgbClr val="555560"/>
                </a:solidFill>
                <a:latin typeface="Segoe UI" pitchFamily="34" charset="0"/>
                <a:cs typeface="Segoe UI" pitchFamily="34" charset="-120"/>
              </a:rPr>
              <a:t>Свыше 200 000 - в отделении банка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Быстрое решение, минимум документов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Досрочное погашение </a:t>
            </a:r>
            <a:r>
              <a:rPr lang="en-US" sz="12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</a:t>
            </a:r>
            <a:r>
              <a:rPr lang="en-US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штрафов</a:t>
            </a:r>
            <a:endParaRPr lang="ru-RU" sz="1200" dirty="0">
              <a:solidFill>
                <a:srgbClr val="555560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177800" indent="-177800">
              <a:spcAft>
                <a:spcPts val="400"/>
              </a:spcAft>
              <a:buSzPct val="100000"/>
              <a:buFontTx/>
              <a:buChar char="•"/>
            </a:pPr>
            <a:r>
              <a:rPr lang="ru-RU" sz="12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 решению кредитного комитета может быть запрошено обеспечение: поручительство или движимое имущество.</a:t>
            </a:r>
            <a:endParaRPr lang="en-US" sz="1200" dirty="0">
              <a:solidFill>
                <a:srgbClr val="555560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Ставка 19% годовых по программе «Зарплатный». Точные условия определяются кредитным договором.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BC62E-6E5A-7298-20F9-8B5EB9944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698E5C-7BC6-51B9-5FBC-EE0C39F2B71E}"/>
              </a:ext>
            </a:extLst>
          </p:cNvPr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D418E55-2CAA-A874-32D6-D6C0C8F95654}"/>
              </a:ext>
            </a:extLst>
          </p:cNvPr>
          <p:cNvSpPr/>
          <p:nvPr/>
        </p:nvSpPr>
        <p:spPr>
          <a:xfrm>
            <a:off x="731520" y="1783080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05738D-FDAB-0791-3288-775C40506048}"/>
              </a:ext>
            </a:extLst>
          </p:cNvPr>
          <p:cNvSpPr/>
          <p:nvPr/>
        </p:nvSpPr>
        <p:spPr>
          <a:xfrm>
            <a:off x="731520" y="2651760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B389A5D-6901-730A-DE7D-0CFD5F06523A}"/>
              </a:ext>
            </a:extLst>
          </p:cNvPr>
          <p:cNvSpPr/>
          <p:nvPr/>
        </p:nvSpPr>
        <p:spPr>
          <a:xfrm>
            <a:off x="4459529" y="1783080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87B3B7-C0CD-4CED-A9A5-30A1546A1915}"/>
              </a:ext>
            </a:extLst>
          </p:cNvPr>
          <p:cNvSpPr/>
          <p:nvPr/>
        </p:nvSpPr>
        <p:spPr>
          <a:xfrm>
            <a:off x="4459529" y="2651760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3222415-F1DC-BD82-81C6-03A936E4C089}"/>
              </a:ext>
            </a:extLst>
          </p:cNvPr>
          <p:cNvSpPr/>
          <p:nvPr/>
        </p:nvSpPr>
        <p:spPr>
          <a:xfrm>
            <a:off x="8187538" y="1783080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9EC4A5A-91F1-F24F-10AB-C85C6B598B4C}"/>
              </a:ext>
            </a:extLst>
          </p:cNvPr>
          <p:cNvSpPr/>
          <p:nvPr/>
        </p:nvSpPr>
        <p:spPr>
          <a:xfrm>
            <a:off x="8187538" y="2651760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BA68230-B246-96DF-103F-040E8B749360}"/>
              </a:ext>
            </a:extLst>
          </p:cNvPr>
          <p:cNvSpPr/>
          <p:nvPr/>
        </p:nvSpPr>
        <p:spPr>
          <a:xfrm>
            <a:off x="868680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13C3CB6-FA90-529E-71B2-806EAC8C4774}"/>
              </a:ext>
            </a:extLst>
          </p:cNvPr>
          <p:cNvSpPr/>
          <p:nvPr/>
        </p:nvSpPr>
        <p:spPr>
          <a:xfrm>
            <a:off x="868680" y="4485835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81C0345-F005-1974-9BA5-AAAEB688F1C2}"/>
              </a:ext>
            </a:extLst>
          </p:cNvPr>
          <p:cNvSpPr/>
          <p:nvPr/>
        </p:nvSpPr>
        <p:spPr>
          <a:xfrm>
            <a:off x="6409944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60C6CBF-82DE-652A-18F1-41C82D656707}"/>
              </a:ext>
            </a:extLst>
          </p:cNvPr>
          <p:cNvSpPr/>
          <p:nvPr/>
        </p:nvSpPr>
        <p:spPr>
          <a:xfrm>
            <a:off x="6409944" y="4434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E198C0-F275-B86E-F401-1C85F12F5450}"/>
              </a:ext>
            </a:extLst>
          </p:cNvPr>
          <p:cNvSpPr txBox="1"/>
          <p:nvPr/>
        </p:nvSpPr>
        <p:spPr>
          <a:xfrm>
            <a:off x="467983" y="312003"/>
            <a:ext cx="84948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8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Ипотека для сотрудников зарплатного проекта</a:t>
            </a:r>
            <a:endParaRPr lang="en-US" sz="2800" dirty="0"/>
          </a:p>
        </p:txBody>
      </p:sp>
      <p:graphicFrame>
        <p:nvGraphicFramePr>
          <p:cNvPr id="29" name="Таблица 28">
            <a:extLst>
              <a:ext uri="{FF2B5EF4-FFF2-40B4-BE49-F238E27FC236}">
                <a16:creationId xmlns:a16="http://schemas.microsoft.com/office/drawing/2014/main" id="{060E23EF-BFEF-359D-A383-353B39A867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564002"/>
              </p:ext>
            </p:extLst>
          </p:nvPr>
        </p:nvGraphicFramePr>
        <p:xfrm>
          <a:off x="467982" y="1188720"/>
          <a:ext cx="5484762" cy="4581146"/>
        </p:xfrm>
        <a:graphic>
          <a:graphicData uri="http://schemas.openxmlformats.org/drawingml/2006/table">
            <a:tbl>
              <a:tblPr/>
              <a:tblGrid>
                <a:gridCol w="2899472">
                  <a:extLst>
                    <a:ext uri="{9D8B030D-6E8A-4147-A177-3AD203B41FA5}">
                      <a16:colId xmlns:a16="http://schemas.microsoft.com/office/drawing/2014/main" val="2675805560"/>
                    </a:ext>
                  </a:extLst>
                </a:gridCol>
                <a:gridCol w="2585290">
                  <a:extLst>
                    <a:ext uri="{9D8B030D-6E8A-4147-A177-3AD203B41FA5}">
                      <a16:colId xmlns:a16="http://schemas.microsoft.com/office/drawing/2014/main" val="810422371"/>
                    </a:ext>
                  </a:extLst>
                </a:gridCol>
              </a:tblGrid>
              <a:tr h="5571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Параметры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0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Условия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0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13555"/>
                  </a:ext>
                </a:extLst>
              </a:tr>
              <a:tr h="5571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Процентная ставка первые 3 года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</a:t>
                      </a: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2658"/>
                  </a:ext>
                </a:extLst>
              </a:tr>
              <a:tr h="5571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Процентная ставка на оставшийся срок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21,5</a:t>
                      </a: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следующие 7 лет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913774"/>
                  </a:ext>
                </a:extLst>
              </a:tr>
              <a:tr h="56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Сумма кредита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До 12,5 млн сом</a:t>
                      </a:r>
                      <a:r>
                        <a:rPr lang="ru-RU" sz="1250" b="1" baseline="0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646630"/>
                  </a:ext>
                </a:extLst>
              </a:tr>
              <a:tr h="5571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Срок кредита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До 10 лет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264295"/>
                  </a:ext>
                </a:extLst>
              </a:tr>
              <a:tr h="5571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Обеспечение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Недвижимость</a:t>
                      </a: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329721"/>
                  </a:ext>
                </a:extLst>
              </a:tr>
              <a:tr h="5571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latin typeface="Segoe UI" charset="0"/>
                          <a:ea typeface="Segoe UI" charset="0"/>
                          <a:cs typeface="Segoe UI" charset="0"/>
                        </a:rPr>
                        <a:t>Первоначальный</a:t>
                      </a:r>
                      <a:r>
                        <a:rPr lang="ru-RU" sz="1250" baseline="0" dirty="0">
                          <a:latin typeface="Segoe UI" charset="0"/>
                          <a:ea typeface="Segoe UI" charset="0"/>
                          <a:cs typeface="Segoe UI" charset="0"/>
                        </a:rPr>
                        <a:t> взнос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От 20%;</a:t>
                      </a:r>
                      <a:r>
                        <a:rPr lang="ru-RU" sz="1250" b="1" baseline="0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ru-RU" sz="1250" b="1" baseline="0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при отсутствии </a:t>
                      </a:r>
                      <a:r>
                        <a:rPr lang="ru-RU" sz="1250" b="1" baseline="0" dirty="0" err="1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перв</a:t>
                      </a:r>
                      <a:r>
                        <a:rPr lang="ru-RU" sz="1250" b="1" baseline="0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 взноса- дополнительный залог</a:t>
                      </a:r>
                      <a:endParaRPr lang="ru-RU" sz="1250" b="1" dirty="0">
                        <a:solidFill>
                          <a:srgbClr val="E8005A"/>
                        </a:solidFill>
                        <a:latin typeface="Segoe UI" pitchFamily="34" charset="0"/>
                        <a:ea typeface="Segoe UI" pitchFamily="34" charset="-122"/>
                        <a:cs typeface="Segoe UI" pitchFamily="34" charset="-12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274214"/>
                  </a:ext>
                </a:extLst>
              </a:tr>
              <a:tr h="5571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latin typeface="Segoe UI" charset="0"/>
                          <a:ea typeface="Segoe UI" charset="0"/>
                          <a:cs typeface="Segoe UI" charset="0"/>
                        </a:rPr>
                        <a:t>Страхование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Обязательно</a:t>
                      </a:r>
                      <a:r>
                        <a:rPr lang="ru-RU" sz="1250" b="1" baseline="0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при сумме свыше 4,25 млн сомов</a:t>
                      </a:r>
                      <a:endParaRPr lang="ru-RU" sz="1250" b="1" dirty="0">
                        <a:solidFill>
                          <a:srgbClr val="E8005A"/>
                        </a:solidFill>
                        <a:latin typeface="Segoe UI" pitchFamily="34" charset="0"/>
                        <a:ea typeface="Segoe UI" pitchFamily="34" charset="-122"/>
                        <a:cs typeface="Segoe UI" pitchFamily="34" charset="-12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223708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9CCEB258-A592-EF8B-69D0-E9239833B494}"/>
              </a:ext>
            </a:extLst>
          </p:cNvPr>
          <p:cNvSpPr txBox="1"/>
          <p:nvPr/>
        </p:nvSpPr>
        <p:spPr>
          <a:xfrm>
            <a:off x="6098866" y="1737360"/>
            <a:ext cx="4177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16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Преимущества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BCD112-E0CF-7BEE-7740-E2302ABC76FC}"/>
              </a:ext>
            </a:extLst>
          </p:cNvPr>
          <p:cNvSpPr txBox="1"/>
          <p:nvPr/>
        </p:nvSpPr>
        <p:spPr>
          <a:xfrm>
            <a:off x="6091542" y="2220112"/>
            <a:ext cx="5127443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ru-RU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Приобретение/ремонт/строительство недвижимости, предназначенной для проживания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ru-RU" sz="1250" dirty="0">
                <a:solidFill>
                  <a:srgbClr val="555560"/>
                </a:solidFill>
                <a:latin typeface="Segoe UI" pitchFamily="34" charset="0"/>
                <a:cs typeface="Segoe UI" pitchFamily="34" charset="-120"/>
              </a:rPr>
              <a:t>Возможность длительного срока кредитования — до 10 лет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ru-RU" sz="1250" dirty="0">
                <a:solidFill>
                  <a:srgbClr val="555560"/>
                </a:solidFill>
                <a:latin typeface="Segoe UI" pitchFamily="34" charset="0"/>
                <a:cs typeface="Segoe UI" pitchFamily="34" charset="-120"/>
              </a:rPr>
              <a:t>Комиссия за выдачу наличных по ипотеке отсутствует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ru-RU" sz="1250" dirty="0">
                <a:solidFill>
                  <a:srgbClr val="555560"/>
                </a:solidFill>
                <a:latin typeface="Segoe UI" pitchFamily="34" charset="0"/>
                <a:cs typeface="Segoe UI" pitchFamily="34" charset="-120"/>
              </a:rPr>
              <a:t>Возможность досрочного погашения без ограничений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ru-RU" sz="1250" dirty="0">
                <a:solidFill>
                  <a:srgbClr val="555560"/>
                </a:solidFill>
                <a:latin typeface="Segoe UI" pitchFamily="34" charset="0"/>
                <a:cs typeface="Segoe UI" pitchFamily="34" charset="-120"/>
              </a:rPr>
              <a:t>Льготная процентная ставка по акции</a:t>
            </a:r>
            <a:endParaRPr lang="en-US" sz="1250" dirty="0">
              <a:solidFill>
                <a:srgbClr val="555560"/>
              </a:solidFill>
              <a:latin typeface="Segoe UI" pitchFamily="34" charset="0"/>
              <a:cs typeface="Segoe U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6233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1BEE9-0486-C0CD-DB4E-D723CE16D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C9A2E9-273C-30A8-154B-D29FCA9BEF95}"/>
              </a:ext>
            </a:extLst>
          </p:cNvPr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CC20FF1-2994-95D3-A02C-45ED14518099}"/>
              </a:ext>
            </a:extLst>
          </p:cNvPr>
          <p:cNvSpPr/>
          <p:nvPr/>
        </p:nvSpPr>
        <p:spPr>
          <a:xfrm>
            <a:off x="731520" y="1783080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FA11099-D39E-F0B4-AA52-B89380E45E5F}"/>
              </a:ext>
            </a:extLst>
          </p:cNvPr>
          <p:cNvSpPr/>
          <p:nvPr/>
        </p:nvSpPr>
        <p:spPr>
          <a:xfrm>
            <a:off x="731520" y="2651760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03AB45A-813A-B119-9539-F3D4983BB07C}"/>
              </a:ext>
            </a:extLst>
          </p:cNvPr>
          <p:cNvSpPr/>
          <p:nvPr/>
        </p:nvSpPr>
        <p:spPr>
          <a:xfrm>
            <a:off x="4459529" y="1783080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C58CBF2-689F-70AE-406C-49C64FD65F2B}"/>
              </a:ext>
            </a:extLst>
          </p:cNvPr>
          <p:cNvSpPr/>
          <p:nvPr/>
        </p:nvSpPr>
        <p:spPr>
          <a:xfrm>
            <a:off x="4459529" y="2651760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56F6A9B-E4CA-3D76-5FEB-E5128E617E80}"/>
              </a:ext>
            </a:extLst>
          </p:cNvPr>
          <p:cNvSpPr/>
          <p:nvPr/>
        </p:nvSpPr>
        <p:spPr>
          <a:xfrm>
            <a:off x="8187538" y="1783080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0BAB4E6-9E34-DADD-F4C2-21EE00C41D5E}"/>
              </a:ext>
            </a:extLst>
          </p:cNvPr>
          <p:cNvSpPr/>
          <p:nvPr/>
        </p:nvSpPr>
        <p:spPr>
          <a:xfrm>
            <a:off x="8187538" y="2651760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B4ACB23-7098-A9E3-E776-D3DB8569BC43}"/>
              </a:ext>
            </a:extLst>
          </p:cNvPr>
          <p:cNvSpPr/>
          <p:nvPr/>
        </p:nvSpPr>
        <p:spPr>
          <a:xfrm>
            <a:off x="868680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31EE113-0018-655C-3CF4-194EA4938F02}"/>
              </a:ext>
            </a:extLst>
          </p:cNvPr>
          <p:cNvSpPr/>
          <p:nvPr/>
        </p:nvSpPr>
        <p:spPr>
          <a:xfrm>
            <a:off x="868680" y="4434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4B0AD49-F716-EA6C-591C-6862DCAE9803}"/>
              </a:ext>
            </a:extLst>
          </p:cNvPr>
          <p:cNvSpPr/>
          <p:nvPr/>
        </p:nvSpPr>
        <p:spPr>
          <a:xfrm>
            <a:off x="6409944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30B6012-3B8B-DCAF-B48A-F922FCCD4A33}"/>
              </a:ext>
            </a:extLst>
          </p:cNvPr>
          <p:cNvSpPr/>
          <p:nvPr/>
        </p:nvSpPr>
        <p:spPr>
          <a:xfrm>
            <a:off x="6409944" y="4434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005F0F-8B97-A24E-BE4D-B60C4902D44D}"/>
              </a:ext>
            </a:extLst>
          </p:cNvPr>
          <p:cNvSpPr txBox="1"/>
          <p:nvPr/>
        </p:nvSpPr>
        <p:spPr>
          <a:xfrm>
            <a:off x="467983" y="312003"/>
            <a:ext cx="60945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Бизнес-кредиты</a:t>
            </a:r>
            <a:endParaRPr lang="en-US" sz="3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0E2155-6F8B-E87F-A477-4958AE89DC2E}"/>
              </a:ext>
            </a:extLst>
          </p:cNvPr>
          <p:cNvSpPr txBox="1"/>
          <p:nvPr/>
        </p:nvSpPr>
        <p:spPr>
          <a:xfrm>
            <a:off x="467982" y="975390"/>
            <a:ext cx="86415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Кредитные</a:t>
            </a:r>
            <a:r>
              <a:rPr lang="en-US" sz="14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решения</a:t>
            </a:r>
            <a:r>
              <a:rPr lang="en-US" sz="14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</a:t>
            </a:r>
            <a:r>
              <a:rPr lang="en-US" sz="14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бизнеса</a:t>
            </a:r>
            <a:r>
              <a:rPr lang="en-US" sz="14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r>
              <a:rPr lang="en-US" sz="14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</a:t>
            </a:r>
            <a:r>
              <a:rPr lang="en-US" sz="14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оборот</a:t>
            </a:r>
            <a:r>
              <a:rPr lang="en-US" sz="14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14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развитие</a:t>
            </a:r>
            <a:r>
              <a:rPr lang="en-US" sz="14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и </a:t>
            </a:r>
            <a:r>
              <a:rPr lang="en-US" sz="14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инвестиции</a:t>
            </a:r>
            <a:r>
              <a:rPr lang="en-US" sz="14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en-US" sz="14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</a:t>
            </a:r>
            <a:r>
              <a:rPr lang="en-US" sz="14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юридических</a:t>
            </a:r>
            <a:r>
              <a:rPr lang="en-US" sz="14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4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лиц</a:t>
            </a:r>
            <a:r>
              <a:rPr lang="en-US" sz="14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и ИП.</a:t>
            </a:r>
            <a:endParaRPr lang="en-US" sz="1400" dirty="0"/>
          </a:p>
        </p:txBody>
      </p:sp>
      <p:graphicFrame>
        <p:nvGraphicFramePr>
          <p:cNvPr id="29" name="Таблица 28">
            <a:extLst>
              <a:ext uri="{FF2B5EF4-FFF2-40B4-BE49-F238E27FC236}">
                <a16:creationId xmlns:a16="http://schemas.microsoft.com/office/drawing/2014/main" id="{CC333E96-B5CC-A722-9F67-DC612303E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45735"/>
              </p:ext>
            </p:extLst>
          </p:nvPr>
        </p:nvGraphicFramePr>
        <p:xfrm>
          <a:off x="467982" y="1761236"/>
          <a:ext cx="6903720" cy="3335528"/>
        </p:xfrm>
        <a:graphic>
          <a:graphicData uri="http://schemas.openxmlformats.org/drawingml/2006/table">
            <a:tbl>
              <a:tblPr/>
              <a:tblGrid>
                <a:gridCol w="2301595">
                  <a:extLst>
                    <a:ext uri="{9D8B030D-6E8A-4147-A177-3AD203B41FA5}">
                      <a16:colId xmlns:a16="http://schemas.microsoft.com/office/drawing/2014/main" val="2675805560"/>
                    </a:ext>
                  </a:extLst>
                </a:gridCol>
                <a:gridCol w="2864765">
                  <a:extLst>
                    <a:ext uri="{9D8B030D-6E8A-4147-A177-3AD203B41FA5}">
                      <a16:colId xmlns:a16="http://schemas.microsoft.com/office/drawing/2014/main" val="81042237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56283561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Программа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0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Сумма, </a:t>
                      </a:r>
                      <a:r>
                        <a:rPr lang="en-US" sz="1350" b="1" dirty="0" err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сом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0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Ставка в сомах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0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1355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Экспресс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25 000 – 500 000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265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Микро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250 001 – 1 800 000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21–22%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4823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Бизнес-Смолл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1 800 001 – 16 000 001+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20–21%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91377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Женское предпринимательство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250 001 – 4 000 000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19–21%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64663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Бизнес-Авто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эквивалент от 2 000 USD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20–22%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26429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717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Овердрафт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до 70 000 000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329721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0CE9AC0C-A169-2E8C-8C78-A184992961E1}"/>
              </a:ext>
            </a:extLst>
          </p:cNvPr>
          <p:cNvSpPr txBox="1"/>
          <p:nvPr/>
        </p:nvSpPr>
        <p:spPr>
          <a:xfrm>
            <a:off x="7828902" y="1965960"/>
            <a:ext cx="4177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Коротко</a:t>
            </a:r>
            <a:r>
              <a:rPr lang="en-US" sz="16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о </a:t>
            </a:r>
            <a:r>
              <a:rPr lang="en-US" sz="1600" b="1" dirty="0" err="1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продукте</a:t>
            </a:r>
            <a:endParaRPr 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8A7A1C-D40B-A233-B008-83AC5FE656EA}"/>
              </a:ext>
            </a:extLst>
          </p:cNvPr>
          <p:cNvSpPr txBox="1"/>
          <p:nvPr/>
        </p:nvSpPr>
        <p:spPr>
          <a:xfrm>
            <a:off x="7635241" y="2487394"/>
            <a:ext cx="446762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Кредитование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в </a:t>
            </a: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сомах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и в USD (в USD — </a:t>
            </a: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</a:t>
            </a:r>
            <a:r>
              <a:rPr lang="ru-RU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Для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юридических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лиц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и ИП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Овердрафт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</a:t>
            </a: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70 000 000 </a:t>
            </a: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сом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Индивидуальный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график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погашения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распространяется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5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госпрограммы</a:t>
            </a: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(ФСХ, РКФР)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237296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C9A2E9-273C-30A8-154B-D29FCA9BEF95}"/>
              </a:ext>
            </a:extLst>
          </p:cNvPr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7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FCC20FF1-2994-95D3-A02C-45ED14518099}"/>
              </a:ext>
            </a:extLst>
          </p:cNvPr>
          <p:cNvSpPr/>
          <p:nvPr/>
        </p:nvSpPr>
        <p:spPr>
          <a:xfrm>
            <a:off x="731520" y="1783080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FFA11099-D39E-F0B4-AA52-B89380E45E5F}"/>
              </a:ext>
            </a:extLst>
          </p:cNvPr>
          <p:cNvSpPr/>
          <p:nvPr/>
        </p:nvSpPr>
        <p:spPr>
          <a:xfrm>
            <a:off x="731520" y="2651760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503AB45A-813A-B119-9539-F3D4983BB07C}"/>
              </a:ext>
            </a:extLst>
          </p:cNvPr>
          <p:cNvSpPr/>
          <p:nvPr/>
        </p:nvSpPr>
        <p:spPr>
          <a:xfrm>
            <a:off x="4459529" y="1783080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C58CBF2-689F-70AE-406C-49C64FD65F2B}"/>
              </a:ext>
            </a:extLst>
          </p:cNvPr>
          <p:cNvSpPr/>
          <p:nvPr/>
        </p:nvSpPr>
        <p:spPr>
          <a:xfrm>
            <a:off x="4459529" y="2651760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C56F6A9B-E4CA-3D76-5FEB-E5128E617E80}"/>
              </a:ext>
            </a:extLst>
          </p:cNvPr>
          <p:cNvSpPr/>
          <p:nvPr/>
        </p:nvSpPr>
        <p:spPr>
          <a:xfrm>
            <a:off x="8187538" y="1783080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B0BAB4E6-9E34-DADD-F4C2-21EE00C41D5E}"/>
              </a:ext>
            </a:extLst>
          </p:cNvPr>
          <p:cNvSpPr/>
          <p:nvPr/>
        </p:nvSpPr>
        <p:spPr>
          <a:xfrm>
            <a:off x="8187538" y="2651760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FB4ACB23-7098-A9E3-E776-D3DB8569BC43}"/>
              </a:ext>
            </a:extLst>
          </p:cNvPr>
          <p:cNvSpPr/>
          <p:nvPr/>
        </p:nvSpPr>
        <p:spPr>
          <a:xfrm>
            <a:off x="868680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F31EE113-0018-655C-3CF4-194EA4938F02}"/>
              </a:ext>
            </a:extLst>
          </p:cNvPr>
          <p:cNvSpPr/>
          <p:nvPr/>
        </p:nvSpPr>
        <p:spPr>
          <a:xfrm>
            <a:off x="868680" y="4434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endParaRPr lang="en-US" sz="120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44B0AD49-F716-EA6C-591C-6862DCAE9803}"/>
              </a:ext>
            </a:extLst>
          </p:cNvPr>
          <p:cNvSpPr/>
          <p:nvPr/>
        </p:nvSpPr>
        <p:spPr>
          <a:xfrm>
            <a:off x="6409944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F30B6012-3B8B-DCAF-B48A-F922FCCD4A33}"/>
              </a:ext>
            </a:extLst>
          </p:cNvPr>
          <p:cNvSpPr/>
          <p:nvPr/>
        </p:nvSpPr>
        <p:spPr>
          <a:xfrm>
            <a:off x="6409944" y="443484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  <a:buSzPct val="100000"/>
            </a:pP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005F0F-8B97-A24E-BE4D-B60C4902D44D}"/>
              </a:ext>
            </a:extLst>
          </p:cNvPr>
          <p:cNvSpPr txBox="1"/>
          <p:nvPr/>
        </p:nvSpPr>
        <p:spPr>
          <a:xfrm>
            <a:off x="467983" y="312003"/>
            <a:ext cx="113840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30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Сниженная ставка на б</a:t>
            </a:r>
            <a:r>
              <a:rPr lang="en-US" sz="3000" b="1" dirty="0" err="1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изнес-кредиты</a:t>
            </a:r>
            <a:r>
              <a:rPr lang="ru-RU" sz="30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до 31 августа 2026</a:t>
            </a:r>
            <a:endParaRPr lang="en-US" sz="3000" dirty="0"/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CC333E96-B5CC-A722-9F67-DC612303E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240426"/>
              </p:ext>
            </p:extLst>
          </p:nvPr>
        </p:nvGraphicFramePr>
        <p:xfrm>
          <a:off x="1461513" y="2909186"/>
          <a:ext cx="8895826" cy="2384552"/>
        </p:xfrm>
        <a:graphic>
          <a:graphicData uri="http://schemas.openxmlformats.org/drawingml/2006/table">
            <a:tbl>
              <a:tblPr/>
              <a:tblGrid>
                <a:gridCol w="4508464">
                  <a:extLst>
                    <a:ext uri="{9D8B030D-6E8A-4147-A177-3AD203B41FA5}">
                      <a16:colId xmlns:a16="http://schemas.microsoft.com/office/drawing/2014/main" val="810422371"/>
                    </a:ext>
                  </a:extLst>
                </a:gridCol>
                <a:gridCol w="4387362">
                  <a:extLst>
                    <a:ext uri="{9D8B030D-6E8A-4147-A177-3AD203B41FA5}">
                      <a16:colId xmlns:a16="http://schemas.microsoft.com/office/drawing/2014/main" val="56283561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Сумма, </a:t>
                      </a:r>
                      <a:r>
                        <a:rPr lang="en-US" sz="1350" b="1" dirty="0" err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сом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00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Ставка в сомах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00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1355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25 000 – 500 000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265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</a:t>
                      </a: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001 – 1 800 000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4823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1 800 001 – </a:t>
                      </a:r>
                      <a:r>
                        <a:rPr lang="ru-RU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r>
                        <a:rPr lang="en-US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000 00</a:t>
                      </a:r>
                      <a:r>
                        <a:rPr lang="ru-RU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</a:t>
                      </a: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91377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ru-RU" sz="1250" dirty="0">
                          <a:solidFill>
                            <a:srgbClr val="55556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8 000 001 и выше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r>
                        <a:rPr lang="en-US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до 3-лет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ru-RU" sz="1250" b="1" dirty="0">
                          <a:solidFill>
                            <a:srgbClr val="E8005A"/>
                          </a:solidFill>
                          <a:latin typeface="Segoe UI" pitchFamily="34" charset="0"/>
                          <a:ea typeface="Segoe UI" charset="0"/>
                          <a:cs typeface="Segoe UI" pitchFamily="34" charset="-120"/>
                        </a:rPr>
                        <a:t>18 % от 3-лет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64663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7ADAEE4-BDDC-821F-EEB0-6DECF47991A7}"/>
              </a:ext>
            </a:extLst>
          </p:cNvPr>
          <p:cNvSpPr txBox="1"/>
          <p:nvPr/>
        </p:nvSpPr>
        <p:spPr>
          <a:xfrm>
            <a:off x="380059" y="6418695"/>
            <a:ext cx="9038326" cy="244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Ставки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в 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сомах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зависят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суммы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и 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срока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свыше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36 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мес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 В USD 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ставки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ниже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(11–15%). 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Тарифы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утв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Решением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Правления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№9/2026-4 </a:t>
            </a:r>
            <a:r>
              <a:rPr lang="en-US" sz="950" dirty="0" err="1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</a:t>
            </a:r>
            <a:r>
              <a:rPr lang="en-US" sz="950" dirty="0">
                <a:solidFill>
                  <a:srgbClr val="8A8A9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02.03.2026.</a:t>
            </a:r>
            <a:endParaRPr lang="en-US" sz="950" dirty="0"/>
          </a:p>
        </p:txBody>
      </p:sp>
      <p:sp>
        <p:nvSpPr>
          <p:cNvPr id="17" name="Shape 1"/>
          <p:cNvSpPr/>
          <p:nvPr/>
        </p:nvSpPr>
        <p:spPr>
          <a:xfrm>
            <a:off x="868679" y="1011198"/>
            <a:ext cx="3133649" cy="1666709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8" name="Text 2"/>
          <p:cNvSpPr/>
          <p:nvPr/>
        </p:nvSpPr>
        <p:spPr>
          <a:xfrm>
            <a:off x="640080" y="1331238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3200" b="1" dirty="0">
                <a:solidFill>
                  <a:srgbClr val="E80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 17</a:t>
            </a:r>
            <a:r>
              <a:rPr lang="en-US" sz="3200" b="1" dirty="0">
                <a:solidFill>
                  <a:srgbClr val="E800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</a:t>
            </a:r>
            <a:endParaRPr lang="en-US" sz="3200" dirty="0"/>
          </a:p>
        </p:txBody>
      </p:sp>
      <p:sp>
        <p:nvSpPr>
          <p:cNvPr id="19" name="Text 3"/>
          <p:cNvSpPr/>
          <p:nvPr/>
        </p:nvSpPr>
        <p:spPr>
          <a:xfrm>
            <a:off x="640080" y="2199918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годовых</a:t>
            </a:r>
            <a:endParaRPr lang="en-US" sz="1500" dirty="0"/>
          </a:p>
        </p:txBody>
      </p:sp>
      <p:sp>
        <p:nvSpPr>
          <p:cNvPr id="20" name="Shape 4"/>
          <p:cNvSpPr/>
          <p:nvPr/>
        </p:nvSpPr>
        <p:spPr>
          <a:xfrm>
            <a:off x="4276649" y="1011198"/>
            <a:ext cx="3453689" cy="164056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5"/>
          <p:cNvSpPr/>
          <p:nvPr/>
        </p:nvSpPr>
        <p:spPr>
          <a:xfrm>
            <a:off x="4368089" y="1331238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2400" b="1" dirty="0">
                <a:solidFill>
                  <a:srgbClr val="E8005A"/>
                </a:solidFill>
                <a:latin typeface="Segoe UI" pitchFamily="34" charset="0"/>
                <a:cs typeface="Segoe UI" pitchFamily="34" charset="-120"/>
              </a:rPr>
              <a:t>Без залога </a:t>
            </a:r>
          </a:p>
          <a:p>
            <a:pPr marL="0" indent="0" algn="ctr">
              <a:buNone/>
            </a:pPr>
            <a:r>
              <a:rPr lang="ru-RU" sz="2400" b="1" dirty="0">
                <a:solidFill>
                  <a:srgbClr val="E8005A"/>
                </a:solidFill>
                <a:latin typeface="Segoe UI" pitchFamily="34" charset="0"/>
                <a:cs typeface="Segoe UI" pitchFamily="34" charset="-120"/>
              </a:rPr>
              <a:t>до 250 000 сом</a:t>
            </a:r>
            <a:endParaRPr lang="en-US" sz="2400" dirty="0"/>
          </a:p>
        </p:txBody>
      </p:sp>
      <p:sp>
        <p:nvSpPr>
          <p:cNvPr id="22" name="Text 6"/>
          <p:cNvSpPr/>
          <p:nvPr/>
        </p:nvSpPr>
        <p:spPr>
          <a:xfrm>
            <a:off x="4368089" y="2199918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3" name="Shape 7"/>
          <p:cNvSpPr/>
          <p:nvPr/>
        </p:nvSpPr>
        <p:spPr>
          <a:xfrm>
            <a:off x="8096098" y="1011198"/>
            <a:ext cx="3362249" cy="159484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Text 8"/>
          <p:cNvSpPr/>
          <p:nvPr/>
        </p:nvSpPr>
        <p:spPr>
          <a:xfrm>
            <a:off x="8096098" y="1331238"/>
            <a:ext cx="32708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3200" b="1" dirty="0">
                <a:solidFill>
                  <a:srgbClr val="E8005A"/>
                </a:solidFill>
                <a:latin typeface="Segoe UI" pitchFamily="34" charset="0"/>
                <a:cs typeface="Segoe UI" pitchFamily="34" charset="-120"/>
              </a:rPr>
              <a:t>5 лет</a:t>
            </a:r>
            <a:endParaRPr lang="en-US" sz="3200" dirty="0"/>
          </a:p>
        </p:txBody>
      </p:sp>
      <p:sp>
        <p:nvSpPr>
          <p:cNvPr id="25" name="Text 9"/>
          <p:cNvSpPr/>
          <p:nvPr/>
        </p:nvSpPr>
        <p:spPr>
          <a:xfrm>
            <a:off x="8096098" y="2199918"/>
            <a:ext cx="327080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5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макс. </a:t>
            </a:r>
            <a:r>
              <a:rPr lang="en-US" sz="1500" dirty="0" err="1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</a:t>
            </a:r>
            <a:r>
              <a:rPr lang="en-US" sz="150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кредита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787509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9342"/>
            <a:ext cx="10972800" cy="810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подключить зарплатный проект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8450" y="2011680"/>
            <a:ext cx="3453689" cy="2468880"/>
          </a:xfrm>
          <a:prstGeom prst="roundRect">
            <a:avLst>
              <a:gd name="adj" fmla="val 4444"/>
            </a:avLst>
          </a:prstGeom>
          <a:solidFill>
            <a:srgbClr val="F5F5F8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2024024" y="2187874"/>
            <a:ext cx="685800" cy="685800"/>
          </a:xfrm>
          <a:prstGeom prst="ellipse">
            <a:avLst/>
          </a:prstGeom>
          <a:solidFill>
            <a:srgbClr val="E8005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2011680" y="2240280"/>
            <a:ext cx="698144" cy="568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948940"/>
            <a:ext cx="30879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Подписываем договор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446252"/>
            <a:ext cx="2813609" cy="759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Согласуем условия и оформляем зарплатный проект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5844" y="2011680"/>
            <a:ext cx="3453689" cy="2468880"/>
          </a:xfrm>
          <a:prstGeom prst="roundRect">
            <a:avLst>
              <a:gd name="adj" fmla="val 4444"/>
            </a:avLst>
          </a:prstGeom>
          <a:solidFill>
            <a:srgbClr val="F5F5F8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752033" y="2157466"/>
            <a:ext cx="685800" cy="685800"/>
          </a:xfrm>
          <a:prstGeom prst="ellipse">
            <a:avLst/>
          </a:prstGeom>
          <a:solidFill>
            <a:srgbClr val="E8005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739689" y="2171700"/>
            <a:ext cx="698144" cy="637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50969" y="2948940"/>
            <a:ext cx="3087929" cy="342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Загружаем сотрудников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88129" y="3429000"/>
            <a:ext cx="281360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Принимаем реестр и бесплатно выпускаем карты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29861" y="2011680"/>
            <a:ext cx="3453689" cy="2468880"/>
          </a:xfrm>
          <a:prstGeom prst="roundRect">
            <a:avLst>
              <a:gd name="adj" fmla="val 4444"/>
            </a:avLst>
          </a:prstGeom>
          <a:solidFill>
            <a:srgbClr val="F5F5F8"/>
          </a:solidFill>
          <a:ln/>
          <a:effectLst>
            <a:outerShdw blurRad="88900" dist="38100" dir="5400000" algn="bl" rotWithShape="0">
              <a:srgbClr val="9A9AA5">
                <a:alpha val="2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9494520" y="2187874"/>
            <a:ext cx="685800" cy="685800"/>
          </a:xfrm>
          <a:prstGeom prst="ellipse">
            <a:avLst/>
          </a:prstGeom>
          <a:solidFill>
            <a:srgbClr val="E8005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467698" y="2187874"/>
            <a:ext cx="71262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78978" y="2948940"/>
            <a:ext cx="308792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7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Запускаем выплаты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6138" y="3446252"/>
            <a:ext cx="2813609" cy="759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555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Зачисление зарплаты в один клик через онлайн-банк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8855</TotalTime>
  <Words>899</Words>
  <Application>Microsoft Office PowerPoint</Application>
  <PresentationFormat>Широкоэкранный</PresentationFormat>
  <Paragraphs>201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Diana Mairambekova</cp:lastModifiedBy>
  <cp:revision>17</cp:revision>
  <dcterms:created xsi:type="dcterms:W3CDTF">2026-07-14T04:07:02Z</dcterms:created>
  <dcterms:modified xsi:type="dcterms:W3CDTF">2026-08-03T09:51:14Z</dcterms:modified>
</cp:coreProperties>
</file>